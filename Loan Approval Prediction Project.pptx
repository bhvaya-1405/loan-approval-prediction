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0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9.png"/><Relationship Id="rId6" Type="http://schemas.openxmlformats.org/officeDocument/2006/relationships/image" Target="../media/image44.png"/><Relationship Id="rId7" Type="http://schemas.openxmlformats.org/officeDocument/2006/relationships/image" Target="../media/image11.png"/><Relationship Id="rId8" Type="http://schemas.openxmlformats.org/officeDocument/2006/relationships/image" Target="../media/image38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1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10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14.png"/><Relationship Id="rId7" Type="http://schemas.openxmlformats.org/officeDocument/2006/relationships/image" Target="../media/image37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12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33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4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12.png"/><Relationship Id="rId7" Type="http://schemas.openxmlformats.org/officeDocument/2006/relationships/image" Target="../media/image65.png"/><Relationship Id="rId8" Type="http://schemas.openxmlformats.org/officeDocument/2006/relationships/image" Target="../media/image71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10.png"/><Relationship Id="rId12" Type="http://schemas.openxmlformats.org/officeDocument/2006/relationships/image" Target="../media/image62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33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11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Relationship Id="rId9" Type="http://schemas.openxmlformats.org/officeDocument/2006/relationships/image" Target="../media/image80.png"/><Relationship Id="rId10" Type="http://schemas.openxmlformats.org/officeDocument/2006/relationships/image" Target="../media/image83.png"/><Relationship Id="rId11" Type="http://schemas.openxmlformats.org/officeDocument/2006/relationships/image" Target="../media/image12.png"/><Relationship Id="rId12" Type="http://schemas.openxmlformats.org/officeDocument/2006/relationships/image" Target="../media/image54.png"/><Relationship Id="rId13" Type="http://schemas.openxmlformats.org/officeDocument/2006/relationships/image" Target="../media/image84.png"/><Relationship Id="rId14" Type="http://schemas.openxmlformats.org/officeDocument/2006/relationships/image" Target="../media/image38.png"/><Relationship Id="rId15" Type="http://schemas.openxmlformats.org/officeDocument/2006/relationships/image" Target="../media/image42.png"/><Relationship Id="rId16" Type="http://schemas.openxmlformats.org/officeDocument/2006/relationships/image" Target="../media/image39.png"/><Relationship Id="rId17" Type="http://schemas.openxmlformats.org/officeDocument/2006/relationships/image" Target="../media/image52.png"/><Relationship Id="rId18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32.png"/><Relationship Id="rId4" Type="http://schemas.openxmlformats.org/officeDocument/2006/relationships/image" Target="../media/image86.png"/><Relationship Id="rId5" Type="http://schemas.openxmlformats.org/officeDocument/2006/relationships/image" Target="../media/image15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54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67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Relationship Id="rId17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1B41">
                  <a:alpha val="85000"/>
                </a:srgbClr>
              </a:gs>
              <a:gs pos="100000">
                <a:srgbClr val="141B41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66933" y="1790700"/>
            <a:ext cx="6867353" cy="733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</a:rPr>
              <a:t>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6933" y="2743200"/>
            <a:ext cx="686735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674" b="1">
                <a:solidFill>
                  <a:srgbClr val="A5C9FF"/>
                </a:solidFill>
              </a:rPr>
              <a:t>A Machine Learning Approach to Automate Loan Assessment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19529" y="3698557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371" y="3657600"/>
            <a:ext cx="222879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Presented by: </a:t>
            </a:r>
            <a:r>
              <a:rPr sz="1196" b="1">
                <a:solidFill>
                  <a:srgbClr val="A5C9FF"/>
                </a:solidFill>
              </a:rPr>
              <a:t>Bhavya Singh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57568" y="40833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81410" y="4048124"/>
            <a:ext cx="335271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Under the guidance of: </a:t>
            </a:r>
            <a:r>
              <a:rPr sz="1196" b="1">
                <a:solidFill>
                  <a:srgbClr val="A5C9FF"/>
                </a:solidFill>
              </a:rPr>
              <a:t>Bhargavesh Dakka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62400" y="447389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86242" y="4438649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Organization: </a:t>
            </a:r>
            <a:r>
              <a:rPr sz="1196" b="1">
                <a:solidFill>
                  <a:srgbClr val="A5C9FF"/>
                </a:solidFill>
              </a:rPr>
              <a:t>Sure Trust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305292" y="4854416"/>
            <a:ext cx="228594" cy="1971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29134" y="4829175"/>
            <a:ext cx="124774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Challenges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16367"/>
            <a:ext cx="228594" cy="1771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9380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904999"/>
            <a:ext cx="47338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Time-consuming</a:t>
            </a:r>
            <a:r>
              <a:rPr sz="1196" b="0">
                <a:solidFill>
                  <a:srgbClr val="333333"/>
                </a:solidFill>
              </a:rPr>
              <a:t> manual assessment of thousands of applications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635063"/>
            <a:ext cx="190495" cy="140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2020" y="2590799"/>
            <a:ext cx="41908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Subjective</a:t>
            </a:r>
            <a:r>
              <a:rPr sz="1196" b="0">
                <a:solidFill>
                  <a:srgbClr val="333333"/>
                </a:solidFill>
              </a:rPr>
              <a:t> evaluation leads to inconsistent decisions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070972"/>
            <a:ext cx="190495" cy="106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3009900"/>
            <a:ext cx="36194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High risk of </a:t>
            </a:r>
            <a:r>
              <a:rPr sz="1196" b="1">
                <a:solidFill>
                  <a:srgbClr val="3949AB"/>
                </a:solidFill>
              </a:rPr>
              <a:t>human error</a:t>
            </a:r>
            <a:r>
              <a:rPr sz="1196" b="0">
                <a:solidFill>
                  <a:srgbClr val="333333"/>
                </a:solidFill>
              </a:rPr>
              <a:t> in credit assessment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3453652"/>
            <a:ext cx="190495" cy="179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3429000"/>
            <a:ext cx="37908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Difficulty in maintaining </a:t>
            </a:r>
            <a:r>
              <a:rPr sz="1196" b="1">
                <a:solidFill>
                  <a:srgbClr val="3949AB"/>
                </a:solidFill>
              </a:rPr>
              <a:t>uniform risk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3981449"/>
            <a:ext cx="5038599" cy="952499"/>
          </a:xfrm>
          <a:prstGeom prst="roundRect">
            <a:avLst>
              <a:gd name="adj" fmla="val 16000"/>
            </a:avLst>
          </a:prstGeom>
          <a:solidFill>
            <a:srgbClr val="1A237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24" y="4133849"/>
            <a:ext cx="473380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A237E"/>
                </a:solidFill>
              </a:rPr>
              <a:t>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24" y="4562475"/>
            <a:ext cx="473380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Potential accuracy with ML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Project Objectives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95867" y="1407795"/>
            <a:ext cx="228594" cy="19430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95867" y="19506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0659" y="1904999"/>
            <a:ext cx="39813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Accelerate</a:t>
            </a:r>
            <a:r>
              <a:rPr sz="1196" b="0">
                <a:solidFill>
                  <a:srgbClr val="333333"/>
                </a:solidFill>
              </a:rPr>
              <a:t> loan approval process with automation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95867" y="236276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00659" y="2324100"/>
            <a:ext cx="30479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Develop </a:t>
            </a:r>
            <a:r>
              <a:rPr sz="1196" b="1">
                <a:solidFill>
                  <a:srgbClr val="3949AB"/>
                </a:solidFill>
              </a:rPr>
              <a:t>data-driven</a:t>
            </a:r>
            <a:r>
              <a:rPr sz="1196" b="0">
                <a:solidFill>
                  <a:srgbClr val="333333"/>
                </a:solidFill>
              </a:rPr>
              <a:t> prediction model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295867" y="2779058"/>
            <a:ext cx="190495" cy="1568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0659" y="2743200"/>
            <a:ext cx="35527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Ensure </a:t>
            </a:r>
            <a:r>
              <a:rPr sz="1196" b="1">
                <a:solidFill>
                  <a:srgbClr val="3949AB"/>
                </a:solidFill>
              </a:rPr>
              <a:t>consistent</a:t>
            </a:r>
            <a:r>
              <a:rPr sz="1196" b="0">
                <a:solidFill>
                  <a:srgbClr val="333333"/>
                </a:solidFill>
              </a:rPr>
              <a:t> and fair evaluation criteria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95867" y="3223372"/>
            <a:ext cx="190495" cy="1064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00659" y="3162299"/>
            <a:ext cx="37908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Reduce credit risk</a:t>
            </a:r>
            <a:r>
              <a:rPr sz="1196" b="0">
                <a:solidFill>
                  <a:srgbClr val="333333"/>
                </a:solidFill>
              </a:rPr>
              <a:t> through accurate predictions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295867" y="3622861"/>
            <a:ext cx="190495" cy="1456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00659" y="3581400"/>
            <a:ext cx="35908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Identify </a:t>
            </a:r>
            <a:r>
              <a:rPr sz="1196" b="1">
                <a:solidFill>
                  <a:srgbClr val="3949AB"/>
                </a:solidFill>
              </a:rPr>
              <a:t>key factors</a:t>
            </a:r>
            <a:r>
              <a:rPr sz="1196" b="0">
                <a:solidFill>
                  <a:srgbClr val="333333"/>
                </a:solidFill>
              </a:rPr>
              <a:t> influencing loan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51338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Dataset Overview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225867"/>
            <a:ext cx="228594" cy="1771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6733" y="1714500"/>
            <a:ext cx="5133846" cy="1790700"/>
          </a:xfrm>
          <a:prstGeom prst="roundRect">
            <a:avLst>
              <a:gd name="adj" fmla="val 8510"/>
            </a:avLst>
          </a:prstGeom>
          <a:solidFill>
            <a:srgbClr val="1A237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92214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119" y="1904999"/>
            <a:ext cx="18001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4269</a:t>
            </a:r>
            <a:r>
              <a:rPr sz="1196" b="0">
                <a:solidFill>
                  <a:srgbClr val="333333"/>
                </a:solidFill>
              </a:rPr>
              <a:t> loan applications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33648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19" y="2295525"/>
            <a:ext cx="212402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12</a:t>
            </a:r>
            <a:r>
              <a:rPr sz="1196" b="0">
                <a:solidFill>
                  <a:srgbClr val="333333"/>
                </a:solidFill>
              </a:rPr>
              <a:t> features per application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691765"/>
            <a:ext cx="228594" cy="2171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2686050"/>
            <a:ext cx="144776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No missing</a:t>
            </a:r>
            <a:r>
              <a:rPr sz="1196" b="0">
                <a:solidFill>
                  <a:srgbClr val="333333"/>
                </a:solidFill>
              </a:rPr>
              <a:t> values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31032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0119" y="3076574"/>
            <a:ext cx="238119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Mix</a:t>
            </a:r>
            <a:r>
              <a:rPr sz="1196" b="0">
                <a:solidFill>
                  <a:srgbClr val="333333"/>
                </a:solidFill>
              </a:rPr>
              <a:t> of numerical &amp; categorical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790949"/>
            <a:ext cx="5133846" cy="1514475"/>
          </a:xfrm>
          <a:prstGeom prst="roundRect">
            <a:avLst>
              <a:gd name="adj" fmla="val 10062"/>
            </a:avLst>
          </a:prstGeom>
          <a:solidFill>
            <a:srgbClr val="3949A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28" y="3981449"/>
            <a:ext cx="47528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Target Variable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029075"/>
            <a:ext cx="228594" cy="1714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71525" y="4400550"/>
            <a:ext cx="2143071" cy="714375"/>
          </a:xfrm>
          <a:prstGeom prst="roundRect">
            <a:avLst>
              <a:gd name="adj" fmla="val 21333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5822" y="4514850"/>
            <a:ext cx="19144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2E7D32"/>
                </a:solidFill>
              </a:rPr>
              <a:t>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22" y="4810124"/>
            <a:ext cx="19144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Loan granted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716" y="4400550"/>
            <a:ext cx="2143071" cy="714375"/>
          </a:xfrm>
          <a:prstGeom prst="roundRect">
            <a:avLst>
              <a:gd name="adj" fmla="val 21333"/>
            </a:avLst>
          </a:prstGeom>
          <a:solidFill>
            <a:srgbClr val="F4433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013" y="4514850"/>
            <a:ext cx="19144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C62828"/>
                </a:solidFill>
              </a:rPr>
              <a:t>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7013" y="4810124"/>
            <a:ext cx="19144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Loan 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115" y="1143000"/>
            <a:ext cx="51338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Key Features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91115" y="1225867"/>
            <a:ext cx="228594" cy="17716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91115" y="1714500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3511" y="1866899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Annual Income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43511" y="1911163"/>
            <a:ext cx="190495" cy="1400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3511" y="216217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Applicant's yearly earnings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74" y="1714500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1870" y="1866899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Loan Amount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181870" y="1895755"/>
            <a:ext cx="190495" cy="17088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81870" y="216217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Requested loan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91115" y="2657475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3511" y="2809875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Loan Tenure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43511" y="28334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43511" y="3105149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Repayment period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9474" y="2657475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1870" y="2809875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Dependents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181870" y="2853017"/>
            <a:ext cx="190495" cy="123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81870" y="3105149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Number of dependents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91115" y="3600450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3511" y="3752849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Employment Type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43511" y="3788708"/>
            <a:ext cx="190495" cy="15688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43511" y="404812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Salaried or self-employed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9474" y="3600450"/>
            <a:ext cx="2495487" cy="79057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1870" y="3752849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Education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181870" y="3791510"/>
            <a:ext cx="190495" cy="15127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81870" y="404812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Graduate or not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91115" y="4543425"/>
            <a:ext cx="2495487" cy="981074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3511" y="4695824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CIBIL Score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43511" y="4724960"/>
            <a:ext cx="190495" cy="15127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43511" y="4991100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Credit history rating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29474" y="4543425"/>
            <a:ext cx="2495487" cy="981074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1870" y="4695824"/>
            <a:ext cx="21906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Assets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9181870" y="4727761"/>
            <a:ext cx="190495" cy="14567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181870" y="4991100"/>
            <a:ext cx="219069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Residential, commercial, luxury, bank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Data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Data Preprocessing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96364"/>
            <a:ext cx="228594" cy="2171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9624" y="20574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5822" y="215931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11" y="2057400"/>
            <a:ext cx="42004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Remove loan_id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11" y="2371725"/>
            <a:ext cx="42004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Identifier column with </a:t>
            </a:r>
            <a:r>
              <a:rPr sz="1076" b="1">
                <a:solidFill>
                  <a:srgbClr val="3949AB"/>
                </a:solidFill>
              </a:rPr>
              <a:t>no predictive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2933699"/>
            <a:ext cx="503859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9624" y="3086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5822" y="31794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43011" y="3086100"/>
            <a:ext cx="42004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3011" y="3400425"/>
            <a:ext cx="42004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Dataset showed </a:t>
            </a:r>
            <a:r>
              <a:rPr sz="1076" b="1">
                <a:solidFill>
                  <a:srgbClr val="3949AB"/>
                </a:solidFill>
              </a:rPr>
              <a:t>no missing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3962399"/>
            <a:ext cx="5038599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9624" y="41148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85822" y="420814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43011" y="4114800"/>
            <a:ext cx="42004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Categorical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11" y="4429125"/>
            <a:ext cx="420041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Label encoding for </a:t>
            </a:r>
            <a:r>
              <a:rPr sz="1076" b="1">
                <a:solidFill>
                  <a:srgbClr val="3949AB"/>
                </a:solidFill>
              </a:rPr>
              <a:t>education</a:t>
            </a:r>
            <a:r>
              <a:rPr sz="1076" b="0">
                <a:solidFill>
                  <a:srgbClr val="555555"/>
                </a:solidFill>
              </a:rPr>
              <a:t>, </a:t>
            </a:r>
            <a:r>
              <a:rPr sz="1076" b="1">
                <a:solidFill>
                  <a:srgbClr val="3949AB"/>
                </a:solidFill>
              </a:rPr>
              <a:t>employment</a:t>
            </a:r>
            <a:r>
              <a:rPr sz="1076" b="0">
                <a:solidFill>
                  <a:srgbClr val="555555"/>
                </a:solidFill>
              </a:rPr>
              <a:t>, and </a:t>
            </a:r>
            <a:r>
              <a:rPr sz="1076" b="1">
                <a:solidFill>
                  <a:srgbClr val="3949AB"/>
                </a:solidFill>
              </a:rPr>
              <a:t>loan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5210174"/>
            <a:ext cx="5038599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9624" y="53625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85822" y="5464492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43011" y="5362575"/>
            <a:ext cx="42004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Correlation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3011" y="5676900"/>
            <a:ext cx="420041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Identified relationships between </a:t>
            </a:r>
            <a:r>
              <a:rPr sz="1076" b="1">
                <a:solidFill>
                  <a:srgbClr val="3949AB"/>
                </a:solidFill>
              </a:rPr>
              <a:t>income</a:t>
            </a:r>
            <a:r>
              <a:rPr sz="1076" b="0">
                <a:solidFill>
                  <a:srgbClr val="555555"/>
                </a:solidFill>
              </a:rPr>
              <a:t>, </a:t>
            </a:r>
            <a:r>
              <a:rPr sz="1076" b="1">
                <a:solidFill>
                  <a:srgbClr val="3949AB"/>
                </a:solidFill>
              </a:rPr>
              <a:t>assets</a:t>
            </a:r>
            <a:r>
              <a:rPr sz="1076" b="0">
                <a:solidFill>
                  <a:srgbClr val="555555"/>
                </a:solidFill>
              </a:rPr>
              <a:t>, and </a:t>
            </a:r>
            <a:r>
              <a:rPr sz="1076" b="1">
                <a:solidFill>
                  <a:srgbClr val="3949AB"/>
                </a:solidFill>
              </a:rPr>
              <a:t>loan 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Feature Engineering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95867" y="1412081"/>
            <a:ext cx="228594" cy="18573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95867" y="1904999"/>
            <a:ext cx="5038599" cy="2219324"/>
          </a:xfrm>
          <a:prstGeom prst="roundRect">
            <a:avLst>
              <a:gd name="adj" fmla="val 6866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New Features Created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86362" y="2131695"/>
            <a:ext cx="228594" cy="19430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86362" y="256026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91155" y="2514600"/>
            <a:ext cx="325746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949AB"/>
                </a:solidFill>
              </a:rPr>
              <a:t>Movable Assets</a:t>
            </a:r>
            <a:r>
              <a:rPr sz="1076" b="0">
                <a:solidFill>
                  <a:srgbClr val="333333"/>
                </a:solidFill>
              </a:rPr>
              <a:t> = Luxury Assets + Bank Assets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2918011"/>
            <a:ext cx="190495" cy="1456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91155" y="2886075"/>
            <a:ext cx="42766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949AB"/>
                </a:solidFill>
              </a:rPr>
              <a:t>Immovable Assets</a:t>
            </a:r>
            <a:r>
              <a:rPr sz="1076" b="0">
                <a:solidFill>
                  <a:srgbClr val="333333"/>
                </a:solidFill>
              </a:rPr>
              <a:t> = Residential Assets + Commercial Assets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86362" y="3409950"/>
            <a:ext cx="4657608" cy="523874"/>
          </a:xfrm>
          <a:prstGeom prst="roundRect">
            <a:avLst>
              <a:gd name="adj" fmla="val 2909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6362" y="3409950"/>
            <a:ext cx="465760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04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Better reflects how banks evaluate collateral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5867" y="4505325"/>
            <a:ext cx="5038599" cy="2038349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6362" y="4695824"/>
            <a:ext cx="465760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Feature Transformation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4711065"/>
            <a:ext cx="228594" cy="21717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943551" y="5086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067373" y="5235892"/>
            <a:ext cx="228594" cy="1771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86362" y="5676900"/>
            <a:ext cx="1400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Education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6362" y="5972175"/>
            <a:ext cx="140013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Graduate: 1, Not Graduate: 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72285" y="5086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05632" y="5231606"/>
            <a:ext cx="228594" cy="18573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15097" y="5676900"/>
            <a:ext cx="1400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Employment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5097" y="5972175"/>
            <a:ext cx="140013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Salaried: 1, Self-employed: 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10544" y="5086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334366" y="5254466"/>
            <a:ext cx="228594" cy="14001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43831" y="5676900"/>
            <a:ext cx="1400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Loan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3831" y="5972175"/>
            <a:ext cx="140013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Approved: 1, Rejected: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Exploratory Data Analysis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Key Variables Distribution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33512"/>
            <a:ext cx="228594" cy="1428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Dependents Analysis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57412"/>
            <a:ext cx="228594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608729"/>
            <a:ext cx="190495" cy="78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40003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Uniform distribution</a:t>
            </a:r>
            <a:r>
              <a:rPr sz="1196" b="0">
                <a:solidFill>
                  <a:srgbClr val="333333"/>
                </a:solidFill>
              </a:rPr>
              <a:t> across dependent categories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3013822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37051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Higher dependents → </a:t>
            </a:r>
            <a:r>
              <a:rPr sz="1196" b="1">
                <a:solidFill>
                  <a:srgbClr val="3949AB"/>
                </a:solidFill>
              </a:rPr>
              <a:t>slightly more rejections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410510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352800"/>
            <a:ext cx="40956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Reduced </a:t>
            </a:r>
            <a:r>
              <a:rPr sz="1196" b="1">
                <a:solidFill>
                  <a:srgbClr val="3949AB"/>
                </a:solidFill>
              </a:rPr>
              <a:t>disposable income</a:t>
            </a:r>
            <a:r>
              <a:rPr sz="1196" b="0">
                <a:solidFill>
                  <a:srgbClr val="333333"/>
                </a:solidFill>
              </a:rPr>
              <a:t> with more dependents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3924299"/>
            <a:ext cx="4657608" cy="1904999"/>
          </a:xfrm>
          <a:prstGeom prst="roundRect">
            <a:avLst>
              <a:gd name="adj" fmla="val 8000"/>
            </a:avLst>
          </a:prstGeom>
          <a:solidFill>
            <a:srgbClr val="3949A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3924299"/>
            <a:ext cx="4657608" cy="1904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949AB"/>
                </a:solidFill>
              </a:rPr>
              <a:t>Dependents vs. Loan Approval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6362700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624" y="6515100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Insight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9624" y="6532244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9624" y="6867524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Number of dependents has a </a:t>
            </a:r>
            <a:r>
              <a:rPr sz="1076" b="1">
                <a:solidFill>
                  <a:srgbClr val="3949AB"/>
                </a:solidFill>
              </a:rPr>
              <a:t>moderate impact</a:t>
            </a:r>
            <a:r>
              <a:rPr sz="1076" b="0">
                <a:solidFill>
                  <a:srgbClr val="555555"/>
                </a:solidFill>
              </a:rPr>
              <a:t> on loan approval decisions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Education Impact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95867" y="1416367"/>
            <a:ext cx="228594" cy="1771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95867" y="1904999"/>
            <a:ext cx="5038599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Graduate vs. Non-Graduate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86362" y="2120264"/>
            <a:ext cx="228594" cy="21717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2608729"/>
            <a:ext cx="190495" cy="7844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1155" y="2514600"/>
            <a:ext cx="28764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Minimal difference</a:t>
            </a:r>
            <a:r>
              <a:rPr sz="1196" b="0">
                <a:solidFill>
                  <a:srgbClr val="333333"/>
                </a:solidFill>
              </a:rPr>
              <a:t> in approval rates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299141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91155" y="2933699"/>
            <a:ext cx="22764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Similar income</a:t>
            </a:r>
            <a:r>
              <a:rPr sz="1196" b="0">
                <a:solidFill>
                  <a:srgbClr val="333333"/>
                </a:solidFill>
              </a:rPr>
              <a:t> distributions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3541058"/>
            <a:ext cx="190495" cy="1568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1155" y="3352800"/>
            <a:ext cx="435281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Graduates mostly </a:t>
            </a:r>
            <a:r>
              <a:rPr sz="1196" b="1">
                <a:solidFill>
                  <a:srgbClr val="3949AB"/>
                </a:solidFill>
              </a:rPr>
              <a:t>salaried</a:t>
            </a:r>
            <a:r>
              <a:rPr sz="1196" b="0">
                <a:solidFill>
                  <a:srgbClr val="333333"/>
                </a:solidFill>
              </a:rPr>
              <a:t>, non-graduates mostly </a:t>
            </a:r>
            <a:r>
              <a:rPr sz="1196" b="1">
                <a:solidFill>
                  <a:srgbClr val="3949AB"/>
                </a:solidFill>
              </a:rPr>
              <a:t>self-employed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6362" y="4190999"/>
            <a:ext cx="2238319" cy="10287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759" y="4343400"/>
            <a:ext cx="193352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52%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759" y="4848225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Graduate Approval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5652" y="4190999"/>
            <a:ext cx="2238319" cy="10287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8048" y="4343400"/>
            <a:ext cx="193352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48%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8048" y="4848225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Non-Graduate Approval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95867" y="6362700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8263" y="6515100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Insight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48263" y="6532244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48263" y="6867524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Education level has </a:t>
            </a:r>
            <a:r>
              <a:rPr sz="1076" b="1">
                <a:solidFill>
                  <a:srgbClr val="3949AB"/>
                </a:solidFill>
              </a:rPr>
              <a:t>limited direct influence</a:t>
            </a:r>
            <a:r>
              <a:rPr sz="1076" b="0">
                <a:solidFill>
                  <a:srgbClr val="555555"/>
                </a:solidFill>
              </a:rPr>
              <a:t> on loan approval decisions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Exploratory Data Analysis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CIBIL Score Analysis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14938"/>
            <a:ext cx="228594" cy="1800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5181599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Credit Score Impact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65985"/>
            <a:ext cx="228594" cy="1257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56950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29145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Strongest predictor</a:t>
            </a:r>
            <a:r>
              <a:rPr sz="1196" b="0">
                <a:solidFill>
                  <a:srgbClr val="333333"/>
                </a:solidFill>
              </a:rPr>
              <a:t> of loan approval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29858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32669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Scores </a:t>
            </a:r>
            <a:r>
              <a:rPr sz="1196" b="1">
                <a:solidFill>
                  <a:srgbClr val="3949AB"/>
                </a:solidFill>
              </a:rPr>
              <a:t>above 650</a:t>
            </a:r>
            <a:r>
              <a:rPr sz="1196" b="0">
                <a:solidFill>
                  <a:srgbClr val="333333"/>
                </a:solidFill>
              </a:rPr>
              <a:t> → higher approval rate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4049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352800"/>
            <a:ext cx="28860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Scores </a:t>
            </a:r>
            <a:r>
              <a:rPr sz="1196" b="1">
                <a:solidFill>
                  <a:srgbClr val="3949AB"/>
                </a:solidFill>
              </a:rPr>
              <a:t>below 550</a:t>
            </a:r>
            <a:r>
              <a:rPr sz="1196" b="0">
                <a:solidFill>
                  <a:srgbClr val="333333"/>
                </a:solidFill>
              </a:rPr>
              <a:t> → mostly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3924299"/>
            <a:ext cx="4657608" cy="1523999"/>
          </a:xfrm>
          <a:prstGeom prst="roundRect">
            <a:avLst>
              <a:gd name="adj" fmla="val 10000"/>
            </a:avLst>
          </a:prstGeom>
          <a:solidFill>
            <a:srgbClr val="3949A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3924299"/>
            <a:ext cx="4657608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949AB"/>
                </a:solidFill>
              </a:rPr>
              <a:t>CIBIL Score vs. Loan Approval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7429500"/>
            <a:ext cx="5038599" cy="876299"/>
          </a:xfrm>
          <a:prstGeom prst="roundRect">
            <a:avLst>
              <a:gd name="adj" fmla="val 17391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624" y="7581899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Insight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9624" y="7599044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9624" y="7934324"/>
            <a:ext cx="473380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CIBIL score is the </a:t>
            </a:r>
            <a:r>
              <a:rPr sz="1076" b="1">
                <a:solidFill>
                  <a:srgbClr val="3949AB"/>
                </a:solidFill>
              </a:rPr>
              <a:t>most critical factor</a:t>
            </a:r>
            <a:r>
              <a:rPr sz="1076" b="0">
                <a:solidFill>
                  <a:srgbClr val="555555"/>
                </a:solidFill>
              </a:rPr>
              <a:t> in loan approval decisions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Loan &amp; Assets Analysis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95867" y="1402080"/>
            <a:ext cx="228594" cy="20573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95867" y="1904999"/>
            <a:ext cx="5038599" cy="3457575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Loan Amount &amp; Tenure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86362" y="2145982"/>
            <a:ext cx="228594" cy="16573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2594722"/>
            <a:ext cx="190495" cy="1064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1155" y="2514600"/>
            <a:ext cx="2800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Approved loans → </a:t>
            </a:r>
            <a:r>
              <a:rPr sz="1196" b="1">
                <a:solidFill>
                  <a:srgbClr val="3949AB"/>
                </a:solidFill>
              </a:rPr>
              <a:t>higher amounts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2981605"/>
            <a:ext cx="190495" cy="17088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91155" y="2933699"/>
            <a:ext cx="27621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Approved loans → </a:t>
            </a:r>
            <a:r>
              <a:rPr sz="1196" b="1">
                <a:solidFill>
                  <a:srgbClr val="3949AB"/>
                </a:solidFill>
              </a:rPr>
              <a:t>shorter tenures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86362" y="339650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1155" y="3352800"/>
            <a:ext cx="32288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Banks prefer </a:t>
            </a:r>
            <a:r>
              <a:rPr sz="1196" b="1">
                <a:solidFill>
                  <a:srgbClr val="3949AB"/>
                </a:solidFill>
              </a:rPr>
              <a:t>strong repayment capacity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6362" y="3924299"/>
            <a:ext cx="2238319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759" y="4076699"/>
            <a:ext cx="193352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↑ 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759" y="4581524"/>
            <a:ext cx="193352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Avg. Loan Amount (Approved)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5652" y="3924299"/>
            <a:ext cx="2238319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8048" y="4076699"/>
            <a:ext cx="193352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↓ 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8048" y="4581524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Avg. Tenure (Approved)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95867" y="5553074"/>
            <a:ext cx="5038599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6362" y="5743575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Asset Types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86362" y="5791200"/>
            <a:ext cx="228594" cy="17145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486362" y="6315075"/>
            <a:ext cx="2238319" cy="1381124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62640" y="6467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486462" y="6625590"/>
            <a:ext cx="228594" cy="1600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38759" y="7058025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Movable Assets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8759" y="73532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Luxury + Bank Assets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05652" y="6315075"/>
            <a:ext cx="2238319" cy="1381124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91455" y="6467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915277" y="6617017"/>
            <a:ext cx="228594" cy="177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058048" y="7058025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Immovable Assets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8048" y="73532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Residential + Commercial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7928722"/>
            <a:ext cx="190495" cy="10645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91155" y="7848599"/>
            <a:ext cx="32860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Higher assets → </a:t>
            </a:r>
            <a:r>
              <a:rPr sz="1196" b="1">
                <a:solidFill>
                  <a:srgbClr val="3949AB"/>
                </a:solidFill>
              </a:rPr>
              <a:t>better approval chances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Model Building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Data Preparation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94936"/>
            <a:ext cx="228594" cy="2200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3590924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Data Splitting Strategy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45982"/>
            <a:ext cx="228594" cy="16573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5286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26955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80-20 split</a:t>
            </a:r>
            <a:r>
              <a:rPr sz="1196" b="0">
                <a:solidFill>
                  <a:srgbClr val="333333"/>
                </a:solidFill>
              </a:rPr>
              <a:t> for training and testing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2958913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435281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Random sampling</a:t>
            </a:r>
            <a:r>
              <a:rPr sz="1196" b="0">
                <a:solidFill>
                  <a:srgbClr val="333333"/>
                </a:solidFill>
              </a:rPr>
              <a:t> to ensure representative distribution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636308"/>
            <a:ext cx="190495" cy="1568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619499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Maintained </a:t>
            </a:r>
            <a:r>
              <a:rPr sz="1196" b="1">
                <a:solidFill>
                  <a:srgbClr val="3949AB"/>
                </a:solidFill>
              </a:rPr>
              <a:t>class balance</a:t>
            </a:r>
            <a:r>
              <a:rPr sz="1196" b="0">
                <a:solidFill>
                  <a:srgbClr val="333333"/>
                </a:solidFill>
              </a:rPr>
              <a:t> in both 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28" y="5676900"/>
            <a:ext cx="5038599" cy="3324225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58673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Feature Encoding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7723" y="5892165"/>
            <a:ext cx="228594" cy="21717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7723" y="6320117"/>
            <a:ext cx="190495" cy="123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2516" y="6286500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Label encoding</a:t>
            </a:r>
            <a:r>
              <a:rPr sz="1196" b="0">
                <a:solidFill>
                  <a:srgbClr val="333333"/>
                </a:solidFill>
              </a:rPr>
              <a:t> for categorical variables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47723" y="6725210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2516" y="6705600"/>
            <a:ext cx="37146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Encoded: </a:t>
            </a:r>
            <a:r>
              <a:rPr sz="1196" b="1">
                <a:solidFill>
                  <a:srgbClr val="3949AB"/>
                </a:solidFill>
              </a:rPr>
              <a:t>education</a:t>
            </a:r>
            <a:r>
              <a:rPr sz="1196" b="0">
                <a:solidFill>
                  <a:srgbClr val="333333"/>
                </a:solidFill>
              </a:rPr>
              <a:t>, </a:t>
            </a:r>
            <a:r>
              <a:rPr sz="1196" b="1">
                <a:solidFill>
                  <a:srgbClr val="3949AB"/>
                </a:solidFill>
              </a:rPr>
              <a:t>employment</a:t>
            </a:r>
            <a:r>
              <a:rPr sz="1196" b="0">
                <a:solidFill>
                  <a:srgbClr val="333333"/>
                </a:solidFill>
              </a:rPr>
              <a:t>, </a:t>
            </a:r>
            <a:r>
              <a:rPr sz="1196" b="1">
                <a:solidFill>
                  <a:srgbClr val="3949AB"/>
                </a:solidFill>
              </a:rPr>
              <a:t>loan status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47723" y="71443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52516" y="7124699"/>
            <a:ext cx="33431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All features </a:t>
            </a:r>
            <a:r>
              <a:rPr sz="1196" b="1">
                <a:solidFill>
                  <a:srgbClr val="3949AB"/>
                </a:solidFill>
              </a:rPr>
              <a:t>scaled</a:t>
            </a:r>
            <a:r>
              <a:rPr sz="1196" b="0">
                <a:solidFill>
                  <a:srgbClr val="333333"/>
                </a:solidFill>
              </a:rPr>
              <a:t> for model compatibility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Model Selection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295867" y="1406366"/>
            <a:ext cx="228594" cy="19716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95867" y="1904999"/>
            <a:ext cx="5038599" cy="3638550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Model Selection Rationale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86362" y="2140267"/>
            <a:ext cx="228594" cy="17716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86362" y="2545416"/>
            <a:ext cx="190495" cy="1288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91155" y="2514600"/>
            <a:ext cx="35908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Interpretability</a:t>
            </a:r>
            <a:r>
              <a:rPr sz="1196" b="0">
                <a:solidFill>
                  <a:srgbClr val="333333"/>
                </a:solidFill>
              </a:rPr>
              <a:t> crucial for financial decisions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86362" y="296031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91155" y="2933699"/>
            <a:ext cx="35432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Need for </a:t>
            </a:r>
            <a:r>
              <a:rPr sz="1196" b="1">
                <a:solidFill>
                  <a:srgbClr val="3949AB"/>
                </a:solidFill>
              </a:rPr>
              <a:t>fast processing</a:t>
            </a:r>
            <a:r>
              <a:rPr sz="1196" b="0">
                <a:solidFill>
                  <a:srgbClr val="333333"/>
                </a:solidFill>
              </a:rPr>
              <a:t> of loan applications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86362" y="3371009"/>
            <a:ext cx="190495" cy="154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91155" y="3352800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Ability to capture </a:t>
            </a:r>
            <a:r>
              <a:rPr sz="1196" b="1">
                <a:solidFill>
                  <a:srgbClr val="3949AB"/>
                </a:solidFill>
              </a:rPr>
              <a:t>non-linear relationships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86362" y="3924299"/>
            <a:ext cx="2257368" cy="1428750"/>
          </a:xfrm>
          <a:prstGeom prst="roundRect">
            <a:avLst>
              <a:gd name="adj" fmla="val 10666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72165" y="40766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495987" y="4226242"/>
            <a:ext cx="228594" cy="1771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67373" y="4667249"/>
            <a:ext cx="109534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Decision 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5927" y="4981574"/>
            <a:ext cx="14382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High interpretability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96127" y="3924299"/>
            <a:ext cx="2257368" cy="1428750"/>
          </a:xfrm>
          <a:prstGeom prst="roundRect">
            <a:avLst>
              <a:gd name="adj" fmla="val 10666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1930" y="40766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905752" y="421767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00939" y="4667249"/>
            <a:ext cx="12382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Random Forest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5692" y="4981574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Ensemble approach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95867" y="5734050"/>
            <a:ext cx="5038599" cy="3267075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6362" y="592454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Evaluation Metrics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86362" y="5969317"/>
            <a:ext cx="228594" cy="17716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486362" y="6496049"/>
            <a:ext cx="2238319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38759" y="6648450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Accuracy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759" y="6962775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520"/>
              </a:spcBef>
              <a:spcAft>
                <a:spcPts val="520"/>
              </a:spcAft>
            </a:pPr>
            <a:r>
              <a:rPr sz="1674" b="1">
                <a:solidFill>
                  <a:srgbClr val="3949AB"/>
                </a:solidFill>
              </a:rPr>
              <a:t>98%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759" y="7381874"/>
            <a:ext cx="193352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Overall prediction correctness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05652" y="6496049"/>
            <a:ext cx="2238319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8048" y="6648450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Precision &amp; Recall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8048" y="6962775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520"/>
              </a:spcBef>
              <a:spcAft>
                <a:spcPts val="520"/>
              </a:spcAft>
            </a:pPr>
            <a:r>
              <a:rPr sz="1674" b="1">
                <a:solidFill>
                  <a:srgbClr val="3949AB"/>
                </a:solidFill>
              </a:rP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8048" y="7381874"/>
            <a:ext cx="19335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Balanced for both classes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86362" y="8138832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91155" y="8124824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Confusion matrix</a:t>
            </a:r>
            <a:r>
              <a:rPr sz="1196" b="0">
                <a:solidFill>
                  <a:srgbClr val="333333"/>
                </a:solidFill>
              </a:rPr>
              <a:t> to analyze misclassifications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86362" y="8569138"/>
            <a:ext cx="190495" cy="14007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791155" y="8543925"/>
            <a:ext cx="38956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R² score</a:t>
            </a:r>
            <a:r>
              <a:rPr sz="1196" b="0">
                <a:solidFill>
                  <a:srgbClr val="333333"/>
                </a:solidFill>
              </a:rPr>
              <a:t> and </a:t>
            </a:r>
            <a:r>
              <a:rPr sz="1196" b="1">
                <a:solidFill>
                  <a:srgbClr val="3949AB"/>
                </a:solidFill>
              </a:rPr>
              <a:t>error metrics</a:t>
            </a:r>
            <a:r>
              <a:rPr sz="1196" b="0">
                <a:solidFill>
                  <a:srgbClr val="333333"/>
                </a:solidFill>
              </a:rPr>
              <a:t> for model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Model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Decision Tree Classifier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16367"/>
            <a:ext cx="228594" cy="1771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577215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Key Characteristics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40267"/>
            <a:ext cx="228594" cy="1771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545416"/>
            <a:ext cx="190495" cy="1288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39242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High interpretability</a:t>
            </a:r>
            <a:r>
              <a:rPr sz="1196" b="0">
                <a:solidFill>
                  <a:srgbClr val="333333"/>
                </a:solidFill>
              </a:rPr>
              <a:t> - transparent decision paths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2951909"/>
            <a:ext cx="190495" cy="154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35622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Captures </a:t>
            </a:r>
            <a:r>
              <a:rPr sz="1196" b="1">
                <a:solidFill>
                  <a:srgbClr val="3949AB"/>
                </a:solidFill>
              </a:rPr>
              <a:t>non-linear relationships</a:t>
            </a:r>
            <a:r>
              <a:rPr sz="1196" b="0">
                <a:solidFill>
                  <a:srgbClr val="333333"/>
                </a:solidFill>
              </a:rPr>
              <a:t> effectively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379413"/>
            <a:ext cx="190495" cy="137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352800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Fast training</a:t>
            </a:r>
            <a:r>
              <a:rPr sz="1196" b="0">
                <a:solidFill>
                  <a:srgbClr val="333333"/>
                </a:solidFill>
              </a:rPr>
              <a:t> and prediction time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7723" y="3791510"/>
            <a:ext cx="190495" cy="151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2516" y="3771900"/>
            <a:ext cx="33050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Minimal </a:t>
            </a:r>
            <a:r>
              <a:rPr sz="1196" b="1">
                <a:solidFill>
                  <a:srgbClr val="3949AB"/>
                </a:solidFill>
              </a:rPr>
              <a:t>hyperparameter tuning</a:t>
            </a:r>
            <a:r>
              <a:rPr sz="1196" b="0">
                <a:solidFill>
                  <a:srgbClr val="333333"/>
                </a:solidFill>
              </a:rPr>
              <a:t>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8020049"/>
            <a:ext cx="2419289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624" y="8172450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24" y="8677274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Training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6538" y="8020049"/>
            <a:ext cx="2419289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8934" y="8172450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8934" y="8677274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Random Forest Classifier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95867" y="1407795"/>
            <a:ext cx="228594" cy="19430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95867" y="1904999"/>
            <a:ext cx="5038599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Key Characteristics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86362" y="2131695"/>
            <a:ext cx="228594" cy="19430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2539813"/>
            <a:ext cx="190495" cy="1400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91155" y="2514600"/>
            <a:ext cx="34289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Ensemble method</a:t>
            </a:r>
            <a:r>
              <a:rPr sz="1196" b="0">
                <a:solidFill>
                  <a:srgbClr val="333333"/>
                </a:solidFill>
              </a:rPr>
              <a:t> - multiple decision trees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293930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1155" y="2933699"/>
            <a:ext cx="32479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Reduces overfitting</a:t>
            </a:r>
            <a:r>
              <a:rPr sz="1196" b="0">
                <a:solidFill>
                  <a:srgbClr val="333333"/>
                </a:solidFill>
              </a:rPr>
              <a:t> through aggregation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86362" y="3378013"/>
            <a:ext cx="190495" cy="1400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91155" y="3352800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Uses </a:t>
            </a:r>
            <a:r>
              <a:rPr sz="1196" b="1">
                <a:solidFill>
                  <a:srgbClr val="3949AB"/>
                </a:solidFill>
              </a:rPr>
              <a:t>random feature selection</a:t>
            </a:r>
            <a:r>
              <a:rPr sz="1196" b="0">
                <a:solidFill>
                  <a:srgbClr val="333333"/>
                </a:solidFill>
              </a:rPr>
              <a:t> for diversity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86362" y="37915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91155" y="3771900"/>
            <a:ext cx="27145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Higher </a:t>
            </a:r>
            <a:r>
              <a:rPr sz="1196" b="1">
                <a:solidFill>
                  <a:srgbClr val="3949AB"/>
                </a:solidFill>
              </a:rPr>
              <a:t>computational complexity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5867" y="4572000"/>
            <a:ext cx="2419289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8263" y="4724399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8263" y="5229225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Training Accuracy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177" y="4572000"/>
            <a:ext cx="2419289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7573" y="4724399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98%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7573" y="5229225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Test Accuracy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5867" y="5791200"/>
            <a:ext cx="5038599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6362" y="59816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Training Process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86362" y="6017894"/>
            <a:ext cx="228594" cy="19430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829254" y="64008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9254" y="64008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949AB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6362" y="6896099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Data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6362" y="719137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80-20 train-test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9374" y="64008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29374" y="64008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949AB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6958" y="6896099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Model Init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6958" y="7191375"/>
            <a:ext cx="106677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Default parameters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19969" y="64008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9969" y="64008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949AB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77078" y="6896099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77078" y="719137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Fit to data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0089" y="64008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0089" y="64008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949AB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77198" y="6896099"/>
            <a:ext cx="106677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A237E"/>
                </a:solidFill>
              </a:rPr>
              <a:t>Evaluation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77198" y="719137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Metrics analysis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95867" y="7953374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8263" y="8105774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Finding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48263" y="8132444"/>
            <a:ext cx="228594" cy="19430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448263" y="8458200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Decision Tree showed </a:t>
            </a:r>
            <a:r>
              <a:rPr sz="1076" b="1">
                <a:solidFill>
                  <a:srgbClr val="3949AB"/>
                </a:solidFill>
              </a:rPr>
              <a:t>fewer misclassifications</a:t>
            </a:r>
            <a:r>
              <a:rPr sz="1076" b="0">
                <a:solidFill>
                  <a:srgbClr val="555555"/>
                </a:solidFill>
              </a:rPr>
              <a:t> (17) than Random Forest (21)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Model Comparison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Performance Metrics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96364"/>
            <a:ext cx="228594" cy="2171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544830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Overall Model Performance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40267"/>
            <a:ext cx="228594" cy="1771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7723" y="2514600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0119" y="2667000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19" y="3171825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63" y="2514600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359" y="2667000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359" y="3171825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Training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3695699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0119" y="3848099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0.97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19" y="4352924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963" y="3695699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359" y="3848099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0.98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359" y="4352924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23" y="5067299"/>
            <a:ext cx="223831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0119" y="5219700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Decision Tree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466813" y="52454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0119" y="5572125"/>
            <a:ext cx="124774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Misclassifications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2676" y="5572125"/>
            <a:ext cx="1714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19" y="5867399"/>
            <a:ext cx="6000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R²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9329" y="5867399"/>
            <a:ext cx="31431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0.95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19" y="6162675"/>
            <a:ext cx="71435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Error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5527" y="6162675"/>
            <a:ext cx="22859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013" y="5067299"/>
            <a:ext cx="223831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9409" y="5219700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Random Forest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19429" y="523684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9409" y="5572125"/>
            <a:ext cx="124774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Misclassifications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81490" y="5572125"/>
            <a:ext cx="1714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9409" y="5867399"/>
            <a:ext cx="6000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R²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8619" y="5867399"/>
            <a:ext cx="31431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0.93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9409" y="6162675"/>
            <a:ext cx="71435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Error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1470" y="6162675"/>
            <a:ext cx="3714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2.4%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228" y="7734299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24" y="7886700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Finding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790384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9624" y="8239124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Decision Tree</a:t>
            </a:r>
            <a:r>
              <a:rPr sz="1076" b="0">
                <a:solidFill>
                  <a:srgbClr val="555555"/>
                </a:solidFill>
              </a:rPr>
              <a:t> outperformed Random Forest with fewer misclassifications and higher R² score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Confusion Matrix Analysis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95867" y="1416367"/>
            <a:ext cx="228594" cy="17716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295867" y="1904999"/>
            <a:ext cx="5038599" cy="26289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Decision Tree Performance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2140267"/>
            <a:ext cx="228594" cy="17716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7486462" y="2667000"/>
            <a:ext cx="761980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86542" y="2667000"/>
            <a:ext cx="914377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6542" y="2667000"/>
            <a:ext cx="91437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Predicted: 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9019" y="2667000"/>
            <a:ext cx="914377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9019" y="2667000"/>
            <a:ext cx="91437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Predicted: 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86462" y="3086100"/>
            <a:ext cx="761980" cy="219074"/>
          </a:xfrm>
          <a:prstGeom prst="roundRect">
            <a:avLst>
              <a:gd name="adj" fmla="val 34782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86462" y="3086100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Actual: 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6542" y="3086100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86542" y="30861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E7D32"/>
                </a:solidFill>
              </a:rPr>
              <a:t>521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9019" y="3086100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9019" y="30861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F6C00"/>
                </a:solidFill>
              </a:rPr>
              <a:t>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86462" y="3343275"/>
            <a:ext cx="761980" cy="219074"/>
          </a:xfrm>
          <a:prstGeom prst="roundRect">
            <a:avLst>
              <a:gd name="adj" fmla="val 34782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86462" y="3343275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Actual: 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86542" y="3343275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F4433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6542" y="3343275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2828"/>
                </a:solidFill>
              </a:rPr>
              <a:t>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39019" y="3343275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9019" y="3343275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565C0"/>
                </a:solidFill>
              </a:rPr>
              <a:t>316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6362" y="3752849"/>
            <a:ext cx="12763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True Positive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86782" y="3752849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98.3%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86362" y="4048124"/>
            <a:ext cx="134299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True Negative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86782" y="4048124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97.5%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95867" y="4724399"/>
            <a:ext cx="5038599" cy="26289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86362" y="4914900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Random Forest Performance 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86362" y="4951095"/>
            <a:ext cx="228594" cy="194309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7486462" y="5486400"/>
            <a:ext cx="761980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286542" y="5486400"/>
            <a:ext cx="914377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6542" y="5486400"/>
            <a:ext cx="91437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Predicted: Yes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39019" y="5486400"/>
            <a:ext cx="914377" cy="380999"/>
          </a:xfrm>
          <a:prstGeom prst="roundRect">
            <a:avLst>
              <a:gd name="adj" fmla="val 2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39019" y="5486400"/>
            <a:ext cx="91437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Predicted: No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86462" y="5905500"/>
            <a:ext cx="761980" cy="219074"/>
          </a:xfrm>
          <a:prstGeom prst="roundRect">
            <a:avLst>
              <a:gd name="adj" fmla="val 34782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86462" y="5905500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Actual: Yes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86542" y="5905500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86542" y="59055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E7D32"/>
                </a:solidFill>
              </a:rPr>
              <a:t>518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39019" y="5905500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39019" y="59055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F6C00"/>
                </a:solidFill>
              </a:rPr>
              <a:t>12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486462" y="6162675"/>
            <a:ext cx="761980" cy="219074"/>
          </a:xfrm>
          <a:prstGeom prst="roundRect">
            <a:avLst>
              <a:gd name="adj" fmla="val 34782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86462" y="6162675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Actual: No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86542" y="6162675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F4433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86542" y="6162675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2828"/>
                </a:solidFill>
              </a:rPr>
              <a:t>9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239019" y="6162675"/>
            <a:ext cx="914377" cy="219074"/>
          </a:xfrm>
          <a:prstGeom prst="roundRect">
            <a:avLst>
              <a:gd name="adj" fmla="val 34782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9019" y="6162675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565C0"/>
                </a:solidFill>
              </a:rPr>
              <a:t>315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86362" y="6572250"/>
            <a:ext cx="12763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True Positive 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86782" y="6572250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97.7%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86362" y="6867524"/>
            <a:ext cx="134299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True Negative 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86782" y="6867524"/>
            <a:ext cx="4571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97.2%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95867" y="7734299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8263" y="7886700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Model Selection 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48263" y="7915275"/>
            <a:ext cx="228594" cy="17145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448263" y="8239124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Decision Tree selected for </a:t>
            </a:r>
            <a:r>
              <a:rPr sz="1076" b="1">
                <a:solidFill>
                  <a:srgbClr val="3949AB"/>
                </a:solidFill>
              </a:rPr>
              <a:t>better interpretability</a:t>
            </a:r>
            <a:r>
              <a:rPr sz="1076" b="0">
                <a:solidFill>
                  <a:srgbClr val="555555"/>
                </a:solidFill>
              </a:rPr>
              <a:t> and </a:t>
            </a:r>
            <a:r>
              <a:rPr sz="1076" b="1">
                <a:solidFill>
                  <a:srgbClr val="3949AB"/>
                </a:solidFill>
              </a:rPr>
              <a:t>superior metrics</a:t>
            </a:r>
            <a:r>
              <a:rPr sz="1076" b="0">
                <a:solidFill>
                  <a:srgbClr val="555555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Most Important Features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07795"/>
            <a:ext cx="228594" cy="1943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539115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Feature Importance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40267"/>
            <a:ext cx="228594" cy="1771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53421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35336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CIBIL Score</a:t>
            </a:r>
            <a:r>
              <a:rPr sz="1196" b="0">
                <a:solidFill>
                  <a:srgbClr val="333333"/>
                </a:solidFill>
              </a:rPr>
              <a:t> - Strongest predictor of approval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2953310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Annual Income</a:t>
            </a:r>
            <a:r>
              <a:rPr sz="1196" b="0">
                <a:solidFill>
                  <a:srgbClr val="333333"/>
                </a:solidFill>
              </a:rPr>
              <a:t> - Directly impacts repayment capacity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375211"/>
            <a:ext cx="190495" cy="1456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352800"/>
            <a:ext cx="39718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Asset Value</a:t>
            </a:r>
            <a:r>
              <a:rPr sz="1196" b="0">
                <a:solidFill>
                  <a:srgbClr val="333333"/>
                </a:solidFill>
              </a:rPr>
              <a:t> - Both movable and immovable assets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7723" y="3797113"/>
            <a:ext cx="190495" cy="1400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2516" y="3771900"/>
            <a:ext cx="435281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Loan Amount</a:t>
            </a:r>
            <a:r>
              <a:rPr sz="1196" b="0">
                <a:solidFill>
                  <a:srgbClr val="333333"/>
                </a:solidFill>
              </a:rPr>
              <a:t> - Higher amounts with shorter tenure preferred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7723" y="44717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4457700"/>
            <a:ext cx="39242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Loan Tenure</a:t>
            </a:r>
            <a:r>
              <a:rPr sz="1196" b="0">
                <a:solidFill>
                  <a:srgbClr val="333333"/>
                </a:solidFill>
              </a:rPr>
              <a:t> - Shorter repayment periods favored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7639049"/>
            <a:ext cx="2419289" cy="1247775"/>
          </a:xfrm>
          <a:prstGeom prst="roundRect">
            <a:avLst>
              <a:gd name="adj" fmla="val 122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624" y="7791449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650+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24" y="8296274"/>
            <a:ext cx="21144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CIBIL Score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6538" y="7639049"/>
            <a:ext cx="2419289" cy="1247775"/>
          </a:xfrm>
          <a:prstGeom prst="roundRect">
            <a:avLst>
              <a:gd name="adj" fmla="val 122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8934" y="7791449"/>
            <a:ext cx="211449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8934" y="8296274"/>
            <a:ext cx="2114497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Higher Loan Amount (Approved)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Business Insights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95867" y="1419225"/>
            <a:ext cx="228594" cy="17145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95867" y="1904999"/>
            <a:ext cx="5038599" cy="1904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6362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Model Interpretation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2140267"/>
            <a:ext cx="228594" cy="17716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2541213"/>
            <a:ext cx="190495" cy="1372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1155" y="2514600"/>
            <a:ext cx="39813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Decision Tree</a:t>
            </a:r>
            <a:r>
              <a:rPr sz="1196" b="0">
                <a:solidFill>
                  <a:srgbClr val="333333"/>
                </a:solidFill>
              </a:rPr>
              <a:t> provides transparent decision paths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86362" y="2975722"/>
            <a:ext cx="190495" cy="1064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91155" y="2933699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Model achieves </a:t>
            </a:r>
            <a:r>
              <a:rPr sz="1196" b="1">
                <a:solidFill>
                  <a:srgbClr val="3949AB"/>
                </a:solidFill>
              </a:rPr>
              <a:t>98% accuracy</a:t>
            </a:r>
            <a:r>
              <a:rPr sz="1196" b="0">
                <a:solidFill>
                  <a:srgbClr val="333333"/>
                </a:solidFill>
              </a:rPr>
              <a:t> on test data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86362" y="33724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91155" y="3352800"/>
            <a:ext cx="35622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Captures </a:t>
            </a:r>
            <a:r>
              <a:rPr sz="1196" b="1">
                <a:solidFill>
                  <a:srgbClr val="3949AB"/>
                </a:solidFill>
              </a:rPr>
              <a:t>non-linear relationships</a:t>
            </a:r>
            <a:r>
              <a:rPr sz="1196" b="0">
                <a:solidFill>
                  <a:srgbClr val="333333"/>
                </a:solidFill>
              </a:rPr>
              <a:t> effectively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5867" y="4152899"/>
            <a:ext cx="2447863" cy="1552574"/>
          </a:xfrm>
          <a:prstGeom prst="roundRect">
            <a:avLst>
              <a:gd name="adj" fmla="val 9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8263" y="43053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24461" y="4407217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48263" y="4800600"/>
            <a:ext cx="21430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Education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8263" y="5114925"/>
            <a:ext cx="214307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Minimal direct influence on approval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96127" y="4152899"/>
            <a:ext cx="2447863" cy="1552574"/>
          </a:xfrm>
          <a:prstGeom prst="roundRect">
            <a:avLst>
              <a:gd name="adj" fmla="val 9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48523" y="43053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124721" y="4424362"/>
            <a:ext cx="228594" cy="1428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48523" y="4800600"/>
            <a:ext cx="21430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Dependents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523" y="5114925"/>
            <a:ext cx="214307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Moderate impact through disposable income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5867" y="5857875"/>
            <a:ext cx="2447863" cy="1552574"/>
          </a:xfrm>
          <a:prstGeom prst="roundRect">
            <a:avLst>
              <a:gd name="adj" fmla="val 9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48263" y="6010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24461" y="6107906"/>
            <a:ext cx="228594" cy="18573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48263" y="6505575"/>
            <a:ext cx="21430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Employment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8263" y="6819900"/>
            <a:ext cx="214307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Indirect influence through stability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96127" y="5857875"/>
            <a:ext cx="2447863" cy="1552574"/>
          </a:xfrm>
          <a:prstGeom prst="roundRect">
            <a:avLst>
              <a:gd name="adj" fmla="val 9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48523" y="6010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124721" y="6097905"/>
            <a:ext cx="228594" cy="20573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48523" y="6505575"/>
            <a:ext cx="21430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Asset Collateral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8523" y="6819900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Strong positive correlation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5867" y="7791449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8263" y="7943850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Key Takeaway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48263" y="7960994"/>
            <a:ext cx="228594" cy="19430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448263" y="8296274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ML models can </a:t>
            </a:r>
            <a:r>
              <a:rPr sz="1076" b="1">
                <a:solidFill>
                  <a:srgbClr val="3949AB"/>
                </a:solidFill>
              </a:rPr>
              <a:t>streamline loan processing</a:t>
            </a:r>
            <a:r>
              <a:rPr sz="1076" b="0">
                <a:solidFill>
                  <a:srgbClr val="555555"/>
                </a:solidFill>
              </a:rPr>
              <a:t> while maintaining </a:t>
            </a:r>
            <a:r>
              <a:rPr sz="1076" b="1">
                <a:solidFill>
                  <a:srgbClr val="3949AB"/>
                </a:solidFill>
              </a:rPr>
              <a:t>risk assessment standards</a:t>
            </a:r>
            <a:r>
              <a:rPr sz="1076" b="0">
                <a:solidFill>
                  <a:srgbClr val="555555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Project Summary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16367"/>
            <a:ext cx="228594" cy="1771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4152899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20954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Key Achievements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31695"/>
            <a:ext cx="228594" cy="19430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527206"/>
            <a:ext cx="190495" cy="165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514600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Built </a:t>
            </a:r>
            <a:r>
              <a:rPr sz="1196" b="1">
                <a:solidFill>
                  <a:srgbClr val="3949AB"/>
                </a:solidFill>
              </a:rPr>
              <a:t>high-accuracy</a:t>
            </a:r>
            <a:r>
              <a:rPr sz="1196" b="0">
                <a:solidFill>
                  <a:srgbClr val="333333"/>
                </a:solidFill>
              </a:rPr>
              <a:t> loan prediction model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47723" y="2956111"/>
            <a:ext cx="190495" cy="145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2933699"/>
            <a:ext cx="40289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Identified </a:t>
            </a:r>
            <a:r>
              <a:rPr sz="1196" b="1">
                <a:solidFill>
                  <a:srgbClr val="3949AB"/>
                </a:solidFill>
              </a:rPr>
              <a:t>critical factors</a:t>
            </a:r>
            <a:r>
              <a:rPr sz="1196" b="0">
                <a:solidFill>
                  <a:srgbClr val="333333"/>
                </a:solidFill>
              </a:rPr>
              <a:t> influencing loan approval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3371009"/>
            <a:ext cx="190495" cy="154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352800"/>
            <a:ext cx="435281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Created </a:t>
            </a:r>
            <a:r>
              <a:rPr sz="1196" b="1">
                <a:solidFill>
                  <a:srgbClr val="3949AB"/>
                </a:solidFill>
              </a:rPr>
              <a:t>meaningful features</a:t>
            </a:r>
            <a:r>
              <a:rPr sz="1196" b="0">
                <a:solidFill>
                  <a:srgbClr val="333333"/>
                </a:solidFill>
              </a:rPr>
              <a:t> (Movable/Immovable Assets)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4190999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0119" y="4343400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19" y="4848225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Model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963" y="4190999"/>
            <a:ext cx="2257368" cy="1028700"/>
          </a:xfrm>
          <a:prstGeom prst="roundRect">
            <a:avLst>
              <a:gd name="adj" fmla="val 14814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359" y="4343400"/>
            <a:ext cx="195257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1A237E"/>
                </a:solidFill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359" y="4848225"/>
            <a:ext cx="19525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Misclassifications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6248400"/>
            <a:ext cx="5038599" cy="255270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23" y="64388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A237E"/>
                </a:solidFill>
              </a:rPr>
              <a:t> Limitations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7723" y="6479381"/>
            <a:ext cx="228594" cy="18573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7723" y="687761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52516" y="6858000"/>
            <a:ext cx="40575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Dataset may not fully reflect </a:t>
            </a:r>
            <a:r>
              <a:rPr sz="1196" b="1">
                <a:solidFill>
                  <a:srgbClr val="3949AB"/>
                </a:solidFill>
              </a:rPr>
              <a:t>real-world complexity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47723" y="7296710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52516" y="7277100"/>
            <a:ext cx="37241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Limited </a:t>
            </a:r>
            <a:r>
              <a:rPr sz="1196" b="1">
                <a:solidFill>
                  <a:srgbClr val="3949AB"/>
                </a:solidFill>
              </a:rPr>
              <a:t>behavioral metrics</a:t>
            </a:r>
            <a:r>
              <a:rPr sz="1196" b="0">
                <a:solidFill>
                  <a:srgbClr val="333333"/>
                </a:solidFill>
              </a:rPr>
              <a:t> beyond CIBIL score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47723" y="7738222"/>
            <a:ext cx="190495" cy="1064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52516" y="7696199"/>
            <a:ext cx="38861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Potential </a:t>
            </a:r>
            <a:r>
              <a:rPr sz="1196" b="1">
                <a:solidFill>
                  <a:srgbClr val="3949AB"/>
                </a:solidFill>
              </a:rPr>
              <a:t>overfitting</a:t>
            </a:r>
            <a:r>
              <a:rPr sz="1196" b="0">
                <a:solidFill>
                  <a:srgbClr val="333333"/>
                </a:solidFill>
              </a:rPr>
              <a:t> with 100% training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Future Improvements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295867" y="1409223"/>
            <a:ext cx="228594" cy="19145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95867" y="1904999"/>
            <a:ext cx="503859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8263" y="21335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24461" y="2235517"/>
            <a:ext cx="228594" cy="1771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81650" y="2057400"/>
            <a:ext cx="420041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Implement </a:t>
            </a:r>
            <a:r>
              <a:rPr sz="1196" b="1">
                <a:solidFill>
                  <a:srgbClr val="3949AB"/>
                </a:solidFill>
              </a:rPr>
              <a:t>feature scaling</a:t>
            </a:r>
            <a:r>
              <a:rPr sz="1196" b="0">
                <a:solidFill>
                  <a:srgbClr val="333333"/>
                </a:solidFill>
              </a:rPr>
              <a:t> and </a:t>
            </a:r>
            <a:r>
              <a:rPr sz="1196" b="1">
                <a:solidFill>
                  <a:srgbClr val="3949AB"/>
                </a:solidFill>
              </a:rPr>
              <a:t>hyperparameter tuning</a:t>
            </a:r>
            <a:r>
              <a:rPr sz="1196" b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5867" y="3086100"/>
            <a:ext cx="503859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8263" y="33147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24461" y="3416617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81650" y="3238500"/>
            <a:ext cx="420041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Test </a:t>
            </a:r>
            <a:r>
              <a:rPr sz="1196" b="1">
                <a:solidFill>
                  <a:srgbClr val="3949AB"/>
                </a:solidFill>
              </a:rPr>
              <a:t>advanced algorithms</a:t>
            </a:r>
            <a:r>
              <a:rPr sz="1196" b="0">
                <a:solidFill>
                  <a:srgbClr val="333333"/>
                </a:solidFill>
              </a:rPr>
              <a:t> (XGBoost, SVM, Neural Networks)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5867" y="4267199"/>
            <a:ext cx="5038599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8263" y="44196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24461" y="4517231"/>
            <a:ext cx="228594" cy="18573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981650" y="4476750"/>
            <a:ext cx="31907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Apply </a:t>
            </a:r>
            <a:r>
              <a:rPr sz="1196" b="1">
                <a:solidFill>
                  <a:srgbClr val="3949AB"/>
                </a:solidFill>
              </a:rPr>
              <a:t>SMOTE</a:t>
            </a:r>
            <a:r>
              <a:rPr sz="1196" b="0">
                <a:solidFill>
                  <a:srgbClr val="333333"/>
                </a:solidFill>
              </a:rPr>
              <a:t> if dataset imbalance exists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95867" y="5295899"/>
            <a:ext cx="5038599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8263" y="54483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24461" y="5561647"/>
            <a:ext cx="228594" cy="1543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81650" y="5505450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Add </a:t>
            </a:r>
            <a:r>
              <a:rPr sz="1196" b="1">
                <a:solidFill>
                  <a:srgbClr val="3949AB"/>
                </a:solidFill>
              </a:rPr>
              <a:t>SHAP values</a:t>
            </a:r>
            <a:r>
              <a:rPr sz="1196" b="0">
                <a:solidFill>
                  <a:srgbClr val="333333"/>
                </a:solidFill>
              </a:rPr>
              <a:t> for better model explainability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5867" y="6324599"/>
            <a:ext cx="503859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48263" y="65531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24461" y="6660832"/>
            <a:ext cx="228594" cy="1657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981650" y="6477000"/>
            <a:ext cx="420041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Deploy model using </a:t>
            </a:r>
            <a:r>
              <a:rPr sz="1196" b="1">
                <a:solidFill>
                  <a:srgbClr val="3949AB"/>
                </a:solidFill>
              </a:rPr>
              <a:t>Flask/Streamlit</a:t>
            </a:r>
            <a:r>
              <a:rPr sz="1196" b="0">
                <a:solidFill>
                  <a:srgbClr val="333333"/>
                </a:solidFill>
              </a:rPr>
              <a:t> for real-world use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95867" y="7696199"/>
            <a:ext cx="5038599" cy="1095374"/>
          </a:xfrm>
          <a:prstGeom prst="roundRect">
            <a:avLst>
              <a:gd name="adj" fmla="val 13913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8263" y="7848599"/>
            <a:ext cx="473380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A237E"/>
                </a:solidFill>
              </a:rPr>
              <a:t> Final Takeaway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48263" y="7865745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448263" y="8201025"/>
            <a:ext cx="473380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 Machine learning can </a:t>
            </a:r>
            <a:r>
              <a:rPr sz="1076" b="1">
                <a:solidFill>
                  <a:srgbClr val="3949AB"/>
                </a:solidFill>
              </a:rPr>
              <a:t>transform loan processing</a:t>
            </a:r>
            <a:r>
              <a:rPr sz="1076" b="0">
                <a:solidFill>
                  <a:srgbClr val="555555"/>
                </a:solidFill>
              </a:rPr>
              <a:t> by improving efficiency while maintaining risk assessment standards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7FA"/>
            </a:gs>
            <a:gs pos="100000">
              <a:srgbClr val="E4EAF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237E"/>
                </a:solidFill>
              </a:rPr>
              <a:t>References &amp; 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References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19225"/>
            <a:ext cx="228594" cy="171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04999"/>
            <a:ext cx="5038599" cy="4381499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15110"/>
            <a:ext cx="190495" cy="151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2516" y="2095499"/>
            <a:ext cx="435281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Scikit-learn</a:t>
            </a:r>
            <a:r>
              <a:rPr sz="1196" b="0">
                <a:solidFill>
                  <a:srgbClr val="333333"/>
                </a:solidFill>
              </a:rPr>
              <a:t> Documentation: Machine Learning in Python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962835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943225"/>
            <a:ext cx="42004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Decision Trees</a:t>
            </a:r>
            <a:r>
              <a:rPr sz="1196" b="0">
                <a:solidFill>
                  <a:srgbClr val="333333"/>
                </a:solidFill>
              </a:rPr>
              <a:t> and Random Forests for Classification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3543860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352425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Feature Engineering</a:t>
            </a:r>
            <a:r>
              <a:rPr sz="1196" b="0">
                <a:solidFill>
                  <a:srgbClr val="333333"/>
                </a:solidFill>
              </a:rPr>
              <a:t> for Machine Learning Models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4124885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4105274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Credit Risk Assessment</a:t>
            </a:r>
            <a:r>
              <a:rPr sz="1196" b="0">
                <a:solidFill>
                  <a:srgbClr val="333333"/>
                </a:solidFill>
              </a:rPr>
              <a:t> Using Machine Learning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4705910"/>
            <a:ext cx="190495" cy="151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2516" y="4686300"/>
            <a:ext cx="41813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Model Evaluation</a:t>
            </a:r>
            <a:r>
              <a:rPr sz="1196" b="0">
                <a:solidFill>
                  <a:srgbClr val="333333"/>
                </a:solidFill>
              </a:rPr>
              <a:t> Metrics for Classification Problems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867" y="1333500"/>
            <a:ext cx="50385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1A237E"/>
                </a:solidFill>
              </a:rPr>
              <a:t> Acknowledgments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95867" y="1407795"/>
            <a:ext cx="228594" cy="19430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95867" y="1904999"/>
            <a:ext cx="5038599" cy="4381499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86362" y="2095499"/>
            <a:ext cx="4657608" cy="952499"/>
          </a:xfrm>
          <a:prstGeom prst="roundRect">
            <a:avLst>
              <a:gd name="adj" fmla="val 16000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6858" y="22860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2460948"/>
            <a:ext cx="285742" cy="221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8839" y="2305049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A237E"/>
                </a:solidFill>
              </a:rPr>
              <a:t>Bhargavesh Dakka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8839" y="2609850"/>
            <a:ext cx="35146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Project Guide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6362" y="3429000"/>
            <a:ext cx="4657608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6858" y="3619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19729" y="3794448"/>
            <a:ext cx="285742" cy="2216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38839" y="3638550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A237E"/>
                </a:solidFill>
              </a:rPr>
              <a:t>Sure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8839" y="3943350"/>
            <a:ext cx="35146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Institution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86362" y="4572000"/>
            <a:ext cx="4657608" cy="676274"/>
          </a:xfrm>
          <a:prstGeom prst="roundRect">
            <a:avLst>
              <a:gd name="adj" fmla="val 22535"/>
            </a:avLst>
          </a:prstGeom>
          <a:solidFill>
            <a:srgbClr val="3949A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6858" y="4762500"/>
            <a:ext cx="427661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A237E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